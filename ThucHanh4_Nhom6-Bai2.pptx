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2" r:id="rId9"/>
    <p:sldId id="265" r:id="rId10"/>
    <p:sldId id="263" r:id="rId11"/>
    <p:sldId id="266" r:id="rId12"/>
    <p:sldId id="267" r:id="rId13"/>
    <p:sldId id="268" r:id="rId14"/>
    <p:sldId id="269" r:id="rId15"/>
  </p:sldIdLst>
  <p:sldSz cx="12192000" cy="6858000"/>
  <p:notesSz cx="6858000" cy="9144000"/>
  <p:custShowLst>
    <p:custShow name="KHTN" id="0">
      <p:sldLst>
        <p:sld r:id="rId2"/>
        <p:sld r:id="rId3"/>
        <p:sld r:id="rId4"/>
        <p:sld r:id="rId5"/>
        <p:sld r:id="rId6"/>
        <p:sld r:id="rId7"/>
        <p:sld r:id="rId8"/>
        <p:sld r:id="rId9"/>
        <p:sld r:id="rId15"/>
      </p:sldLst>
    </p:custShow>
    <p:custShow name="CNTT" id="1">
      <p:sldLst>
        <p:sld r:id="rId2"/>
        <p:sld r:id="rId3"/>
        <p:sld r:id="rId4"/>
        <p:sld r:id="rId5"/>
        <p:sld r:id="rId6"/>
        <p:sld r:id="rId11"/>
        <p:sld r:id="rId12"/>
        <p:sld r:id="rId13"/>
        <p:sld r:id="rId14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3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786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4FCA86-8A13-4E3E-9353-256471524EDD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526D76-1659-49AA-B05E-AA530E8E4D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6119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0BACE9-61D3-42F9-98D9-05B702709D60}" type="datetimeFigureOut">
              <a:rPr lang="en-US" smtClean="0"/>
              <a:t>25/09/2026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19B5B-8FF3-4D3A-B3F5-8952AD51BD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885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519B5B-8FF3-4D3A-B3F5-8952AD51BDF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2896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2519B5B-8FF3-4D3A-B3F5-8952AD51BDF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266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32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C044CE-E291-46AC-820F-786A32169F27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14013" y="5874808"/>
            <a:ext cx="535085" cy="365125"/>
          </a:xfrm>
        </p:spPr>
        <p:txBody>
          <a:bodyPr/>
          <a:lstStyle>
            <a:lvl1pPr>
              <a:defRPr sz="2800" b="1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033" y="313406"/>
            <a:ext cx="1347043" cy="134928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>
            <a:lvl2pPr marL="685800" indent="-228600">
              <a:buFont typeface="Times New Roman" panose="02020603050405020304" pitchFamily="18" charset="0"/>
              <a:buChar char="-"/>
              <a:defRPr/>
            </a:lvl2pPr>
            <a:lvl3pPr marL="1143000" indent="-228600">
              <a:buFont typeface="Times New Roman" panose="02020603050405020304" pitchFamily="18" charset="0"/>
              <a:buChar char="+"/>
              <a:defRPr/>
            </a:lvl3pPr>
            <a:lvl4pPr marL="1600200" indent="-228600">
              <a:buFont typeface="Wingdings" panose="05000000000000000000" pitchFamily="2" charset="2"/>
              <a:buChar char="§"/>
              <a:defRPr/>
            </a:lvl4pPr>
            <a:lvl5pPr marL="2057400" indent="-228600">
              <a:buFont typeface="Wingdings" panose="05000000000000000000" pitchFamily="2" charset="2"/>
              <a:buChar char="ü"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C4A726-F25F-41CE-BB57-B664393DAE79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800"/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86951-35B7-427D-A622-4BAD542AB741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3D897F-1E80-4161-87D8-3A26FEC6B02E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2F81B-A660-4094-96ED-8135A82F7D16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F1CCE-2549-4536-A90D-65C9A80AEB91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B4883-CAAD-483B-9BC4-62934D6DF579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6C854-E694-43D1-844A-C42AE352DF27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26EBFF-7D90-4690-867E-178537AFB451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A0649D-26DA-4853-9B54-9F06F3C34F67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6D3D6-2250-4CF8-A461-BF51E3D628D9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53822E-B4CE-4534-9D96-366CE5B36834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5C09B6-5DB4-4EB8-B0A9-73480DF04318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62ADC-6ADB-42E9-925E-2B66D9B90386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078A7-215E-4427-BA61-F309E9EE1283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31170F-EDC1-4F6F-8506-D3ACC1B2912D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0818B-822A-418B-8D5E-15F9D19466AC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FF14F1B-FFDA-43A4-A11C-8281A6D8359E}" type="datetime1">
              <a:rPr lang="en-US" smtClean="0"/>
              <a:t>25/09/2026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8033" y="313406"/>
            <a:ext cx="1347043" cy="134928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hd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1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3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2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it.ctu.edu.vn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Đại học cần thơ – quá trình hình thành và phát triển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mtClean="0"/>
              <a:t>Ts.nguyễn văn a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2EA74-C73D-4551-92E8-F99AA404D1C2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595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Nội dung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1" smtClean="0"/>
              <a:t>Thời kỳ viện đại học cần thơ (1966 – 1975)</a:t>
            </a:r>
          </a:p>
          <a:p>
            <a:r>
              <a:rPr lang="en-US" b="1" smtClean="0"/>
              <a:t>Đhct gia đoạn sau năm 1975</a:t>
            </a:r>
            <a:endParaRPr lang="en-US" b="1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6732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Thời kỳ viện đại học cần thơ (1966-1975)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Được thành lập ngày 31 tháng 03 năm 1966</a:t>
            </a:r>
          </a:p>
          <a:p>
            <a:r>
              <a:rPr lang="en-US" smtClean="0"/>
              <a:t>Viện đại học cần thơ có bốn khoa:</a:t>
            </a:r>
          </a:p>
          <a:p>
            <a:pPr lvl="1"/>
            <a:r>
              <a:rPr lang="en-US" smtClean="0"/>
              <a:t>Khoa học</a:t>
            </a:r>
          </a:p>
          <a:p>
            <a:pPr lvl="1"/>
            <a:r>
              <a:rPr lang="en-US" smtClean="0"/>
              <a:t>Luật khoa</a:t>
            </a:r>
          </a:p>
          <a:p>
            <a:pPr lvl="1"/>
            <a:r>
              <a:rPr lang="en-US" smtClean="0"/>
              <a:t>Khoa học xã hội, văn khoa, sư phạm</a:t>
            </a:r>
          </a:p>
          <a:p>
            <a:pPr lvl="1"/>
            <a:r>
              <a:rPr lang="en-US" smtClean="0"/>
              <a:t>Cao đẳng nông nghiệp và trung tâm sinh ngữ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0810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Thời kỳ viện đại học cần thơ (1966-1975)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Cơ sở vật chất của viện đại học cần thơ tọa lạc trên 4 địa điểm</a:t>
            </a:r>
          </a:p>
          <a:p>
            <a:pPr lvl="1"/>
            <a:r>
              <a:rPr lang="en-US" smtClean="0"/>
              <a:t>Tòa viện trường (số 5, đại lộ hòa bình)</a:t>
            </a:r>
          </a:p>
          <a:p>
            <a:pPr lvl="1"/>
            <a:r>
              <a:rPr lang="en-US" smtClean="0"/>
              <a:t>Khu I (ĐƯờng 30/4)</a:t>
            </a:r>
          </a:p>
          <a:p>
            <a:pPr lvl="1"/>
            <a:r>
              <a:rPr lang="en-US" smtClean="0"/>
              <a:t>Khu II (đường 3/2)</a:t>
            </a:r>
          </a:p>
          <a:p>
            <a:pPr lvl="1"/>
            <a:r>
              <a:rPr lang="en-US" smtClean="0"/>
              <a:t>Khu II: (số 1, lý tự trọng)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356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Đhct giai đoạn sau năm 1975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r>
              <a:rPr lang="en-US" smtClean="0"/>
              <a:t>Viện đại học cần thơ được đổi thành đhct </a:t>
            </a:r>
          </a:p>
          <a:p>
            <a:r>
              <a:rPr lang="en-US" smtClean="0"/>
              <a:t>Cơ cấu đhct hiện nay</a:t>
            </a:r>
          </a:p>
          <a:p>
            <a:pPr lvl="1"/>
            <a:r>
              <a:rPr lang="en-US" smtClean="0"/>
              <a:t>khoa – Viện</a:t>
            </a:r>
          </a:p>
          <a:p>
            <a:pPr lvl="1"/>
            <a:r>
              <a:rPr lang="en-US" smtClean="0"/>
              <a:t>Tủng tâm – trung tâm đào tạo</a:t>
            </a:r>
          </a:p>
          <a:p>
            <a:pPr lvl="1"/>
            <a:r>
              <a:rPr lang="en-US" smtClean="0"/>
              <a:t>Phòng ban chức năng</a:t>
            </a:r>
          </a:p>
          <a:p>
            <a:pPr lvl="1"/>
            <a:r>
              <a:rPr lang="en-US" smtClean="0"/>
              <a:t>Đoàn thể &amp; Hội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6991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mtClean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US" smtClean="0"/>
              <a:t>Ngày 14/1/1998, tường ĐHct khánh thành khoa khoa học</a:t>
            </a:r>
          </a:p>
          <a:p>
            <a:pPr lvl="1"/>
            <a:r>
              <a:rPr lang="en-US" smtClean="0"/>
              <a:t>Cơ sở vật chất</a:t>
            </a:r>
          </a:p>
          <a:p>
            <a:pPr lvl="2"/>
            <a:r>
              <a:rPr lang="en-US" smtClean="0"/>
              <a:t>12 phòng thí nghiệm (Ptn) cho sinh hóa, vật lý</a:t>
            </a:r>
          </a:p>
          <a:p>
            <a:pPr lvl="2"/>
            <a:r>
              <a:rPr lang="en-US" smtClean="0"/>
              <a:t>06 phòng máy tính được nối mạng với nhau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976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mtClean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US" smtClean="0"/>
              <a:t>Cơ sở vật chất</a:t>
            </a:r>
          </a:p>
          <a:p>
            <a:pPr lvl="2"/>
            <a:r>
              <a:rPr lang="en-US" smtClean="0"/>
              <a:t>Vp khoa và xưởng sửa chữa</a:t>
            </a:r>
          </a:p>
          <a:p>
            <a:pPr lvl="2"/>
            <a:r>
              <a:rPr lang="en-US" smtClean="0"/>
              <a:t>Năm 2010, trường đã đầu tư mở rộng khu ptn của khoa</a:t>
            </a:r>
          </a:p>
          <a:p>
            <a:pPr lvl="2"/>
            <a:r>
              <a:rPr lang="en-US" smtClean="0"/>
              <a:t>Xây mới khu nhà 3 tầng với 22 phòng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6667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mtClean="0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US" smtClean="0"/>
              <a:t>Khoa khtn hiện nay gồm 04 bộ môn</a:t>
            </a:r>
          </a:p>
          <a:p>
            <a:pPr lvl="2"/>
            <a:r>
              <a:rPr lang="en-US" smtClean="0"/>
              <a:t>Bộ môn sinh học</a:t>
            </a:r>
          </a:p>
          <a:p>
            <a:pPr lvl="2"/>
            <a:r>
              <a:rPr lang="en-US" smtClean="0"/>
              <a:t>Bộ môn hóa học</a:t>
            </a:r>
          </a:p>
          <a:p>
            <a:pPr lvl="2"/>
            <a:r>
              <a:rPr lang="en-US" smtClean="0"/>
              <a:t>Bộ môn toán học</a:t>
            </a:r>
          </a:p>
          <a:p>
            <a:pPr lvl="2"/>
            <a:r>
              <a:rPr lang="en-US" smtClean="0"/>
              <a:t>Bộ môn vật lý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209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>
                <a:solidFill>
                  <a:srgbClr val="FF0000"/>
                </a:solidFill>
              </a:rPr>
              <a:t>Khoa khoa học tự nhiên</a:t>
            </a:r>
          </a:p>
          <a:p>
            <a:pPr lvl="1"/>
            <a:r>
              <a:rPr lang="en-US" smtClean="0"/>
              <a:t>Công tác đào tạo</a:t>
            </a:r>
          </a:p>
          <a:p>
            <a:pPr lvl="2"/>
            <a:r>
              <a:rPr lang="en-US" smtClean="0"/>
              <a:t>Đại học: ……</a:t>
            </a:r>
          </a:p>
          <a:p>
            <a:pPr lvl="2"/>
            <a:r>
              <a:rPr lang="en-US" smtClean="0"/>
              <a:t>Sđh: ……</a:t>
            </a:r>
          </a:p>
          <a:p>
            <a:pPr lvl="1"/>
            <a:r>
              <a:rPr lang="en-US" smtClean="0"/>
              <a:t>Công tác ncklh, báo cáo chuyên đề: ….</a:t>
            </a:r>
          </a:p>
          <a:p>
            <a:pPr lvl="1"/>
            <a:r>
              <a:rPr lang="en-US" smtClean="0"/>
              <a:t>Công tác đào tạo và bồi dưỡng cán bộ: ….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85594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/>
          </a:bodyPr>
          <a:lstStyle/>
          <a:p>
            <a:r>
              <a:rPr lang="en-US" smtClean="0">
                <a:hlinkClick r:id="rId2"/>
              </a:rPr>
              <a:t>Khoa cntt &amp; TT</a:t>
            </a:r>
            <a:endParaRPr lang="en-US" smtClean="0"/>
          </a:p>
          <a:p>
            <a:pPr lvl="1"/>
            <a:r>
              <a:rPr lang="en-US" smtClean="0"/>
              <a:t>Được thành lập năm 1994 trên cơ sở trung tâm điện tử và tin học</a:t>
            </a:r>
          </a:p>
          <a:p>
            <a:pPr lvl="1"/>
            <a:r>
              <a:rPr lang="en-US" smtClean="0"/>
              <a:t>Nhiệm vụ của khoa là đào tạo</a:t>
            </a:r>
          </a:p>
          <a:p>
            <a:pPr lvl="2"/>
            <a:r>
              <a:rPr lang="en-US" smtClean="0"/>
              <a:t>Đại học và sau đại học</a:t>
            </a:r>
          </a:p>
          <a:p>
            <a:pPr lvl="2"/>
            <a:r>
              <a:rPr lang="en-US" smtClean="0"/>
              <a:t>Nckh và chuyển giao công nghệ trong lĩnh vực cntt&amp;TT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856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mtClean="0">
                <a:solidFill>
                  <a:schemeClr val="accent1">
                    <a:lumMod val="50000"/>
                  </a:schemeClr>
                </a:solidFill>
              </a:rPr>
              <a:t>Khoa cntt &amp; tt</a:t>
            </a:r>
          </a:p>
          <a:p>
            <a:pPr lvl="1"/>
            <a:r>
              <a:rPr lang="en-US" smtClean="0"/>
              <a:t>Tầm nhìn đến năm 2020</a:t>
            </a:r>
          </a:p>
          <a:p>
            <a:pPr lvl="2"/>
            <a:r>
              <a:rPr lang="en-US" smtClean="0"/>
              <a:t>Đơn vị đào tạo và</a:t>
            </a:r>
          </a:p>
          <a:p>
            <a:pPr lvl="2"/>
            <a:r>
              <a:rPr lang="en-US" smtClean="0"/>
              <a:t>Nghiên cứu kghoa học về cntt&amp;tt mạnh của cả nước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919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Khoa cntt &amp; tt</a:t>
            </a:r>
          </a:p>
          <a:p>
            <a:pPr lvl="1"/>
            <a:r>
              <a:rPr lang="en-US" smtClean="0"/>
              <a:t>Các bộ môn và trung tâm</a:t>
            </a:r>
          </a:p>
          <a:p>
            <a:pPr lvl="2"/>
            <a:r>
              <a:rPr lang="en-US" smtClean="0"/>
              <a:t>Bộ môn hệ thống thông tin</a:t>
            </a:r>
          </a:p>
          <a:p>
            <a:pPr lvl="2"/>
            <a:r>
              <a:rPr lang="en-US" smtClean="0"/>
              <a:t>Bộ môn mạng máy tính và truyền thông</a:t>
            </a:r>
          </a:p>
          <a:p>
            <a:pPr lvl="2"/>
            <a:r>
              <a:rPr lang="en-US" smtClean="0"/>
              <a:t>Bộ môn công nghệ phần mềm</a:t>
            </a:r>
          </a:p>
          <a:p>
            <a:pPr lvl="2"/>
            <a:r>
              <a:rPr lang="en-US" smtClean="0"/>
              <a:t>Bộ môn khoa học máy tính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4763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Đhct giai đoạn sau năm 1975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accent1">
                    <a:lumMod val="50000"/>
                  </a:schemeClr>
                </a:solidFill>
              </a:rPr>
              <a:t>Khoa cntt &amp; tt</a:t>
            </a:r>
          </a:p>
          <a:p>
            <a:pPr lvl="1"/>
            <a:r>
              <a:rPr lang="en-US" smtClean="0"/>
              <a:t>Các bộ môn và trung tâm</a:t>
            </a:r>
          </a:p>
          <a:p>
            <a:pPr lvl="2"/>
            <a:r>
              <a:rPr lang="en-US" smtClean="0"/>
              <a:t>Bộ môn công nghệ thông tin</a:t>
            </a:r>
          </a:p>
          <a:p>
            <a:pPr lvl="2"/>
            <a:r>
              <a:rPr lang="en-US" smtClean="0"/>
              <a:t>Bộ môn tin học ứng dụng</a:t>
            </a:r>
          </a:p>
          <a:p>
            <a:pPr lvl="2"/>
            <a:r>
              <a:rPr lang="en-US" smtClean="0"/>
              <a:t>Tổ văn phòng</a:t>
            </a:r>
          </a:p>
          <a:p>
            <a:pPr lvl="2"/>
            <a:r>
              <a:rPr lang="en-US" smtClean="0"/>
              <a:t>Trung tâm điện tử &amp; tin học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630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2531983"/>
            <a:ext cx="10364451" cy="1596177"/>
          </a:xfrm>
        </p:spPr>
        <p:txBody>
          <a:bodyPr/>
          <a:lstStyle/>
          <a:p>
            <a:r>
              <a:rPr lang="en-US" smtClean="0"/>
              <a:t>Cảm ơn sự chú ý của quý vị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smtClean="0"/>
              <a:t>Giới thiệu Đại học Cần Thơ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4444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51</TotalTime>
  <Words>619</Words>
  <Application>Microsoft Office PowerPoint</Application>
  <PresentationFormat>Widescreen</PresentationFormat>
  <Paragraphs>107</Paragraphs>
  <Slides>14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  <vt:variant>
        <vt:lpstr>Custom Shows</vt:lpstr>
      </vt:variant>
      <vt:variant>
        <vt:i4>2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Droplet</vt:lpstr>
      <vt:lpstr>Đại học cần thơ – quá trình hình thành và phát triển</vt:lpstr>
      <vt:lpstr>Nội dung</vt:lpstr>
      <vt:lpstr>Thời kỳ viện đại học cần thơ (1966-1975)</vt:lpstr>
      <vt:lpstr>Thời kỳ viện đại học cần thơ (1966-1975)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Đhct giai đoạn sau năm 1975</vt:lpstr>
      <vt:lpstr>Cảm ơn sự chú ý của quý vị</vt:lpstr>
      <vt:lpstr>KHTN</vt:lpstr>
      <vt:lpstr>CNTT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Windows User</dc:creator>
  <cp:lastModifiedBy>Windows User</cp:lastModifiedBy>
  <cp:revision>11</cp:revision>
  <dcterms:created xsi:type="dcterms:W3CDTF">2026-09-25T06:28:11Z</dcterms:created>
  <dcterms:modified xsi:type="dcterms:W3CDTF">2026-09-25T07:57:30Z</dcterms:modified>
</cp:coreProperties>
</file>